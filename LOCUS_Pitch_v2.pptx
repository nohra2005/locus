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1097280"/>
            <a:ext cx="4114800" cy="4114800"/>
          </a:xfrm>
          <a:prstGeom prst="ellipse">
            <a:avLst/>
          </a:prstGeom>
          <a:solidFill>
            <a:srgbClr val="E63950">
              <a:alpha val="12000"/>
            </a:srgbClr>
          </a:solidFill>
          <a:ln w="12700">
            <a:solidFill>
              <a:srgbClr val="E6395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spc="1800" kern="0" dirty="0">
                <a:solidFill>
                  <a:srgbClr val="FFFFFF"/>
                </a:solidFill>
              </a:rPr>
              <a:t>LOCUS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0B4D8"/>
                </a:solidFill>
              </a:rPr>
              <a:t>Find it in stores. Instantly.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090672"/>
            <a:ext cx="7680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Visual Search for Fashion Retail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0" y="4160520"/>
            <a:ext cx="219456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4297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Pitch Deck 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The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3931920" cy="3520440"/>
          </a:xfrm>
          <a:prstGeom prst="rect">
            <a:avLst/>
          </a:prstGeom>
          <a:solidFill>
            <a:srgbClr val="FFF1F3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3931920" cy="54864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50"/>
                </a:solidFill>
              </a:rPr>
              <a:t>Online Shopping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5087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Photos don't reflect real colors or fit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You can't touch or try the product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Returns are a hassle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Discovery is algorithm-driven, not intent-driven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493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63950"/>
                </a:solidFill>
              </a:rPr>
              <a:t>You see it online  but you can't trust it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960120"/>
            <a:ext cx="3931920" cy="35204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960120"/>
            <a:ext cx="393192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07899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77A8"/>
                </a:solidFill>
              </a:rPr>
              <a:t>Physical Shopping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74920" y="1508760"/>
            <a:ext cx="35661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Time-consuming to visit many stores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No way to know if a store has what you want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Lebanon has no centralized fashion marketplace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You might drive across town for nothing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0" y="3493008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077A8"/>
                </a:solidFill>
              </a:rPr>
              <a:t>You see it in stores  but can't find the right one fast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87952" y="2395728"/>
            <a:ext cx="603504" cy="475488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15" name="Text 13"/>
          <p:cNvSpPr/>
          <p:nvPr/>
        </p:nvSpPr>
        <p:spPr>
          <a:xfrm>
            <a:off x="4187952" y="2395728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182880"/>
            <a:ext cx="4754880" cy="4754880"/>
          </a:xfrm>
          <a:prstGeom prst="ellipse">
            <a:avLst/>
          </a:prstGeom>
          <a:solidFill>
            <a:srgbClr val="E63950">
              <a:alpha val="8000"/>
            </a:srgbClr>
          </a:solidFill>
          <a:ln w="12700">
            <a:solidFill>
              <a:srgbClr val="E63950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3950"/>
                </a:solidFill>
              </a:rPr>
              <a:t>Our Solution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493776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LOCUS is a visual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search engine for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</a:rPr>
              <a:t>fashion retail.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4937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Upload any fashion photo - LOCUS finds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visually similar items in nearby stores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with exact location and a direct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WhatsApp link to confirm availability.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0" y="822960"/>
            <a:ext cx="3108960" cy="1115568"/>
          </a:xfrm>
          <a:prstGeom prst="rect">
            <a:avLst/>
          </a:prstGeom>
          <a:solidFill>
            <a:srgbClr val="1C2D42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42432" y="905256"/>
            <a:ext cx="320040" cy="32004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8" name="Text 6"/>
          <p:cNvSpPr/>
          <p:nvPr/>
        </p:nvSpPr>
        <p:spPr>
          <a:xfrm>
            <a:off x="5742432" y="905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44768" y="9144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Upload a photo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144768" y="132588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From Instagram, Pinterest, or anywhere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2148840"/>
            <a:ext cx="3108960" cy="1115568"/>
          </a:xfrm>
          <a:prstGeom prst="rect">
            <a:avLst/>
          </a:prstGeom>
          <a:solidFill>
            <a:srgbClr val="1C2D42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42432" y="2231136"/>
            <a:ext cx="320040" cy="32004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5742432" y="2231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44768" y="224028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AI finds matches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44768" y="265176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Fashion-CLIP visual similarity engine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669280" y="3474720"/>
            <a:ext cx="3108960" cy="1115568"/>
          </a:xfrm>
          <a:prstGeom prst="rect">
            <a:avLst/>
          </a:prstGeom>
          <a:solidFill>
            <a:srgbClr val="1C2D42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742432" y="3557016"/>
            <a:ext cx="320040" cy="32004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5742432" y="35570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44768" y="356616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Get store directions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144768" y="3977640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Map + WhatsApp to confirm stock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" y="1051560"/>
            <a:ext cx="594360" cy="59436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5" name="Text 3"/>
          <p:cNvSpPr/>
          <p:nvPr/>
        </p:nvSpPr>
        <p:spPr>
          <a:xfrm>
            <a:off x="704088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11480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User Uploads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Photo from phone, Instagram, or web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325880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31720" y="1051560"/>
            <a:ext cx="594360" cy="5943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39112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AI Processes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39112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Background removed, garment detected and vectorized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953512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959352" y="1051560"/>
            <a:ext cx="594360" cy="59436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3959352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666744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Smart Search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66744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30K vectors queried via HNSW in ~60ms p95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81144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86984" y="1051560"/>
            <a:ext cx="594360" cy="5943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586984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94376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Ranking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294376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Results scored by similarity, location and price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208776" y="1344168"/>
            <a:ext cx="4572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14616" y="1051560"/>
            <a:ext cx="594360" cy="594360"/>
          </a:xfrm>
          <a:prstGeom prst="ellipse">
            <a:avLst/>
          </a:prstGeom>
          <a:solidFill>
            <a:srgbClr val="0D1B2A"/>
          </a:solidFill>
          <a:ln/>
        </p:spPr>
      </p:sp>
      <p:sp>
        <p:nvSpPr>
          <p:cNvPr id="25" name="Text 23"/>
          <p:cNvSpPr/>
          <p:nvPr/>
        </p:nvSpPr>
        <p:spPr>
          <a:xfrm>
            <a:off x="7214616" y="1051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922008" y="17099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You See Results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22008" y="2011680"/>
            <a:ext cx="1143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Map view + WhatsApp to confirm stock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8412480" cy="1572768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94360" y="33649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</a:rPr>
              <a:t>Under the hood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94360" y="3730752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Fashion-CLIP encodes each image into a 512-dim vector. 10K products are indexed as 30K vectors (3 angles each).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YOLO-World detects and crops the garment from the background so the model sees only the clothing item.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94A3B8"/>
                </a:solidFill>
              </a:rPr>
              <a:t>Qdrant HNSW index returns nearest neighbors at ~60ms p95 — the full /search endpoint responds in ~800ms p95.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Platform Infrastructure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6012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54864" cy="1463040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" y="1051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API Gateway  (port 8000)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66344" y="138074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Central entry point - auth, rate limiting (10 req/min), orchestration, and Prometheus metrics.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172968" y="96012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172968" y="960120"/>
            <a:ext cx="54864" cy="1463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3319272" y="1051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Visual Engine  (port 8001)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19272" y="138074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Background removal via rembg, YOLO-World detection, Fashion-CLIP 512-dim vectorization.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25896" y="960120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25896" y="960120"/>
            <a:ext cx="54864" cy="1463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6172200" y="1051560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Attribute Tagger  (port 8004)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72200" y="1380744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Gemini 2.0 Flash v001 extracts color, style, pattern, material, and occasion from each result.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62432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24328"/>
            <a:ext cx="54864" cy="14630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" y="271576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Qdrant Cloud  (Vector DB)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6344" y="304495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30K vectors (10K products x 3 views), 512-dim cosine, HNSW ef=512. ~60MB on the 1GB free tier.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172968" y="262432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172968" y="2624328"/>
            <a:ext cx="54864" cy="1463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3319272" y="271576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Ranking Engine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19272" y="304495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Hybrid scorer: CLIP similarity + hard category/location/price filters + Gemini judge score (&gt;= 0.40).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025896" y="2624328"/>
            <a:ext cx="269748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25896" y="2624328"/>
            <a:ext cx="54864" cy="1463040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26" name="Text 24"/>
          <p:cNvSpPr/>
          <p:nvPr/>
        </p:nvSpPr>
        <p:spPr>
          <a:xfrm>
            <a:off x="6172200" y="2715768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React Frontend  (PWA)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172200" y="3044952"/>
            <a:ext cx="2478024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Image upload, AI crop debugger, Leaflet store map, search history. Deployed on Azure Standard_B2s + K3s.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3657600" cy="3657600"/>
          </a:xfrm>
          <a:prstGeom prst="ellipse">
            <a:avLst/>
          </a:prstGeom>
          <a:solidFill>
            <a:srgbClr val="00B4D8">
              <a:alpha val="8000"/>
            </a:srgbClr>
          </a:solidFill>
          <a:ln w="12700">
            <a:solidFill>
              <a:srgbClr val="00B4D8">
                <a:alpha val="8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The AI Core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14400"/>
            <a:ext cx="4572000" cy="365760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241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Why Fashion-CLIP?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508760"/>
            <a:ext cx="150876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5544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48840" y="1508760"/>
            <a:ext cx="118872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2203704" y="1554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Recall@5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83280" y="1508760"/>
            <a:ext cx="14630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3438144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</a:rPr>
              <a:t>Trained 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075688"/>
            <a:ext cx="1508760" cy="45720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4" name="Text 12"/>
          <p:cNvSpPr/>
          <p:nvPr/>
        </p:nvSpPr>
        <p:spPr>
          <a:xfrm>
            <a:off x="557784" y="21214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Generic CLIP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48840" y="2075688"/>
            <a:ext cx="1188720" cy="45720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6" name="Text 14"/>
          <p:cNvSpPr/>
          <p:nvPr/>
        </p:nvSpPr>
        <p:spPr>
          <a:xfrm>
            <a:off x="2203704" y="2121408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~75%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83280" y="2075688"/>
            <a:ext cx="1463040" cy="457200"/>
          </a:xfrm>
          <a:prstGeom prst="rect">
            <a:avLst/>
          </a:prstGeom>
          <a:solidFill>
            <a:srgbClr val="162840"/>
          </a:solidFill>
          <a:ln/>
        </p:spPr>
      </p:sp>
      <p:sp>
        <p:nvSpPr>
          <p:cNvPr id="18" name="Text 16"/>
          <p:cNvSpPr/>
          <p:nvPr/>
        </p:nvSpPr>
        <p:spPr>
          <a:xfrm>
            <a:off x="3438144" y="212140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General web images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2642616"/>
            <a:ext cx="1508760" cy="45720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20" name="Text 18"/>
          <p:cNvSpPr/>
          <p:nvPr/>
        </p:nvSpPr>
        <p:spPr>
          <a:xfrm>
            <a:off x="557784" y="2688336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Fashion-CLIP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48840" y="2642616"/>
            <a:ext cx="1188720" cy="45720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22" name="Text 20"/>
          <p:cNvSpPr/>
          <p:nvPr/>
        </p:nvSpPr>
        <p:spPr>
          <a:xfrm>
            <a:off x="2203704" y="268833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96.7%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83280" y="2642616"/>
            <a:ext cx="1463040" cy="457200"/>
          </a:xfrm>
          <a:prstGeom prst="rect">
            <a:avLst/>
          </a:prstGeom>
          <a:solidFill>
            <a:srgbClr val="0D3D2E"/>
          </a:solidFill>
          <a:ln/>
        </p:spPr>
      </p:sp>
      <p:sp>
        <p:nvSpPr>
          <p:cNvPr id="24" name="Text 22"/>
          <p:cNvSpPr/>
          <p:nvPr/>
        </p:nvSpPr>
        <p:spPr>
          <a:xfrm>
            <a:off x="3438144" y="2688336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4D399"/>
                </a:solidFill>
              </a:rPr>
              <a:t>800K fashion pairs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48640" y="331012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</a:rPr>
              <a:t>+22pp lift — just by switching the encoder. Recall@10 is 98.3% on the same golden set.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212080" y="914400"/>
            <a:ext cx="3566160" cy="1078992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212080" y="914400"/>
            <a:ext cx="45720" cy="107899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28" name="Text 26"/>
          <p:cNvSpPr/>
          <p:nvPr/>
        </p:nvSpPr>
        <p:spPr>
          <a:xfrm>
            <a:off x="5349240" y="10058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63950"/>
                </a:solidFill>
              </a:rPr>
              <a:t>Fashion-CLIP + LoRA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349240" y="133502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512-dim vision encoder fine-tuned on 800K fashion pairs. Continuously improved via LoRA adapters trained on user feedback.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212080" y="2130552"/>
            <a:ext cx="3566160" cy="1078992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212080" y="2130552"/>
            <a:ext cx="45720" cy="107899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5349240" y="22219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C3AED"/>
                </a:solidFill>
              </a:rPr>
              <a:t>YOLO-World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349240" y="25511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Object detection - isolates the garment from background clutter before vectorization, eliminating scene noise.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212080" y="3346704"/>
            <a:ext cx="3566160" cy="1078992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3346704"/>
            <a:ext cx="45720" cy="107899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6" name="Text 34"/>
          <p:cNvSpPr/>
          <p:nvPr/>
        </p:nvSpPr>
        <p:spPr>
          <a:xfrm>
            <a:off x="5349240" y="34381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</a:rPr>
              <a:t>Gemini 2.0 Flash (v001)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349240" y="376732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Judge + attribute tagger. Scores results 0-1, flags anything below 0.40. Costs $0.10/1M tokens vs $5.00 for GPT-4o.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Self-Improving by Design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1188720"/>
            <a:ext cx="640080" cy="64008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Users Rate Results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2860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Star ratings collected after each search. Triggers retrain at &gt;= 50 feedback pairs.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54680" y="1188720"/>
            <a:ext cx="640080" cy="6400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9" name="Text 7"/>
          <p:cNvSpPr/>
          <p:nvPr/>
        </p:nvSpPr>
        <p:spPr>
          <a:xfrm>
            <a:off x="315468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88036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Feedback Stored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88036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Positive/negative pairs feed into the LoRA training pipeline (max 150 steps).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806440" y="11887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58064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532120" y="19019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LoRA Fine-Tuning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532120" y="21945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Fashion-CLIP adapter re-trained and evaluated on 35 golden queries.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480560" y="3017520"/>
            <a:ext cx="640080" cy="64008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017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206240" y="373075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</a:rPr>
              <a:t>Quality Gate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206240" y="4023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New model must score ACS@5 &gt;= 70% to be deployed. Otherwise rolled back.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325880" y="150876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977640" y="1508760"/>
            <a:ext cx="164592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828800"/>
            <a:ext cx="0" cy="91440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" y="3337560"/>
            <a:ext cx="36576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" y="914400"/>
            <a:ext cx="0" cy="24231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2926080"/>
            <a:ext cx="2011680" cy="1005840"/>
          </a:xfrm>
          <a:prstGeom prst="rect">
            <a:avLst/>
          </a:prstGeom>
          <a:solidFill>
            <a:srgbClr val="F0F4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286000" y="299923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59669"/>
                </a:solidFill>
              </a:rPr>
              <a:t>If approved: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286000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New LoRA adapter hot-swapped in production with zero downtime. Rollback is automatic if ACS@5 &lt; 70%.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</a:rPr>
              <a:t>The system gets smarter with every search - no manual retraining needed.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457200"/>
            <a:ext cx="4572000" cy="4572000"/>
          </a:xfrm>
          <a:prstGeom prst="ellipse">
            <a:avLst/>
          </a:prstGeom>
          <a:solidFill>
            <a:srgbClr val="E63950">
              <a:alpha val="10000"/>
            </a:srgbClr>
          </a:solidFill>
          <a:ln w="12700">
            <a:solidFill>
              <a:srgbClr val="E63950">
                <a:alpha val="1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By the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D399"/>
                </a:solidFill>
              </a:rPr>
              <a:t>96.7%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389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Recall@5 on 35-query golden dataset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4231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963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4D8"/>
                </a:solidFill>
              </a:rPr>
              <a:t>~800ms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4963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p95 /search endpoint latency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4805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537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50"/>
                </a:solidFill>
              </a:rPr>
              <a:t>+22pp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45537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Lift over generic CLIP (75% -&gt; 96.7%)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537960" y="1051560"/>
            <a:ext cx="1920240" cy="1188720"/>
          </a:xfrm>
          <a:prstGeom prst="rect">
            <a:avLst/>
          </a:prstGeom>
          <a:solidFill>
            <a:srgbClr val="151F2E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11112" y="1106424"/>
            <a:ext cx="177393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A78BFA"/>
                </a:solidFill>
              </a:rPr>
              <a:t>$40/mo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611112" y="180136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Total infra cost (Azure + Gemini LLM)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How Quality Is Guaranteed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283464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Gemini 2.0 Flash judge scores every result — low-confidence predictions are filtered out (threshold: 40% for clothing, 10% for accessories).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New LoRA adapters must hit ACS@5 &gt;= 70% on 35 golden queries before being hot-swapped into production.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Recall@10 is already 98.3% on the golden dataset — giving the ranker a strong candidate pool to work with.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1B2A"/>
                </a:solidFill>
              </a:rPr>
              <a:t>Market and Vision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758952"/>
            <a:ext cx="8229600" cy="2743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960120"/>
            <a:ext cx="4754880" cy="3566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972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Why Lebanon, Why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No centralized fashion marketplace exists in Lebanon - every store is siloed.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Shoppers rely on Instagram DMs and in-person visits to find specific items.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Smartphone penetration is high - the behavior of photographing fashion items already exists.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</a:rPr>
              <a:t>LOCUS is the missing layer between inspiration (photo) and action (in-store visit).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349240" y="960120"/>
            <a:ext cx="3429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40680" y="1143000"/>
            <a:ext cx="502920" cy="502920"/>
          </a:xfrm>
          <a:prstGeom prst="ellipse">
            <a:avLst/>
          </a:prstGeom>
          <a:solidFill>
            <a:srgbClr val="E63950"/>
          </a:solidFill>
          <a:ln/>
        </p:spPr>
      </p:sp>
      <p:sp>
        <p:nvSpPr>
          <p:cNvPr id="9" name="Text 7"/>
          <p:cNvSpPr/>
          <p:nvPr/>
        </p:nvSpPr>
        <p:spPr>
          <a:xfrm>
            <a:off x="544068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035040" y="10515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50"/>
                </a:solidFill>
              </a:rPr>
              <a:t>Expand Beyond Lebanon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35040" y="139903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The model is market-agnostic - any city with fashion retail can onboard.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349240" y="2194560"/>
            <a:ext cx="3429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40680" y="2377440"/>
            <a:ext cx="502920" cy="50292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5440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B2B Store Portal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263347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Retailers upload inventory directly via a dedicated portal and analytics dashboard.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49240" y="3429000"/>
            <a:ext cx="34290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40680" y="361188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9" name="Text 17"/>
          <p:cNvSpPr/>
          <p:nvPr/>
        </p:nvSpPr>
        <p:spPr>
          <a:xfrm>
            <a:off x="544068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35040" y="352044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</a:rPr>
              <a:t>Outfit AI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35040" y="3867912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Vibe-check completion: suggest shoes, bags, and accessories to complete a look.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E63950">
              <a:alpha val="12000"/>
            </a:srgbClr>
          </a:solidFill>
          <a:ln w="12700">
            <a:solidFill>
              <a:srgbClr val="E63950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spc="2000" kern="0" dirty="0">
                <a:solidFill>
                  <a:srgbClr val="FFFFFF"/>
                </a:solidFill>
              </a:rPr>
              <a:t>LOCUS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6916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</a:rPr>
              <a:t>Bridging the gap between fashion inspiration and your local store.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0" y="2359152"/>
            <a:ext cx="2743200" cy="27432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606040"/>
            <a:ext cx="2331720" cy="141732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14400" y="2606040"/>
            <a:ext cx="233172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Try the demo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24128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Upload a photo and see results live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520440" y="2606040"/>
            <a:ext cx="2331720" cy="141732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20440" y="2606040"/>
            <a:ext cx="233172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13" name="Text 11"/>
          <p:cNvSpPr/>
          <p:nvPr/>
        </p:nvSpPr>
        <p:spPr>
          <a:xfrm>
            <a:off x="363016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Partner with us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30168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Onboard your store's inventory today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26480" y="2606040"/>
            <a:ext cx="2331720" cy="1417320"/>
          </a:xfrm>
          <a:prstGeom prst="rect">
            <a:avLst/>
          </a:prstGeom>
          <a:solidFill>
            <a:srgbClr val="12233A"/>
          </a:solidFill>
          <a:ln/>
          <a:effectLst>
            <a:outerShdw sx="100000" sy="100000" kx="0" ky="0" algn="bl" rotWithShape="0" blurRad="127000" dist="508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2606040"/>
            <a:ext cx="2331720" cy="36576"/>
          </a:xfrm>
          <a:prstGeom prst="rect">
            <a:avLst/>
          </a:prstGeom>
          <a:solidFill>
            <a:srgbClr val="E639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36208" y="26974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in touch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36208" y="31546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marcnawar2@gmail.com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A5568"/>
                </a:solidFill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LOCUS Pitch Deck</dc:title>
  <dc:subject>PptxGenJS Presentation</dc:subject>
  <dc:creator>PptxGenJS</dc:creator>
  <cp:lastModifiedBy>PptxGenJS</cp:lastModifiedBy>
  <cp:revision>1</cp:revision>
  <dcterms:created xsi:type="dcterms:W3CDTF">2026-05-04T07:31:01Z</dcterms:created>
  <dcterms:modified xsi:type="dcterms:W3CDTF">2026-05-04T07:31:01Z</dcterms:modified>
</cp:coreProperties>
</file>